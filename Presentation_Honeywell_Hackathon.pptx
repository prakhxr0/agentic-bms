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336" y="804430"/>
            <a:ext cx="1036015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dirty="0">
                <a:solidFill>
                  <a:srgbClr val="000000"/>
                </a:solidFill>
                <a:latin typeface="Calibri"/>
              </a:rPr>
              <a:t>Eco</a:t>
            </a:r>
            <a:r>
              <a:rPr lang="en-IN" sz="4000" b="1" dirty="0">
                <a:solidFill>
                  <a:srgbClr val="000000"/>
                </a:solidFill>
                <a:latin typeface="Calibri"/>
              </a:rPr>
              <a:t> - </a:t>
            </a:r>
            <a:r>
              <a:rPr sz="4000" b="1" dirty="0">
                <a:solidFill>
                  <a:srgbClr val="000000"/>
                </a:solidFill>
                <a:latin typeface="Calibri"/>
              </a:rPr>
              <a:t>Loop Building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87678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dirty="0">
                <a:solidFill>
                  <a:srgbClr val="505050"/>
                </a:solidFill>
                <a:latin typeface="Calibri"/>
              </a:rPr>
              <a:t>Autonomous Closed-Loop HVAC Optimization via </a:t>
            </a:r>
            <a:r>
              <a:rPr sz="1800" b="0" dirty="0" err="1">
                <a:solidFill>
                  <a:srgbClr val="505050"/>
                </a:solidFill>
                <a:latin typeface="Calibri"/>
              </a:rPr>
              <a:t>EnergyPlus</a:t>
            </a:r>
            <a:r>
              <a:rPr sz="1800" b="0" dirty="0">
                <a:solidFill>
                  <a:srgbClr val="505050"/>
                </a:solidFill>
                <a:latin typeface="Calibri"/>
              </a:rPr>
              <a:t> + Local LLM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696" y="2319595"/>
            <a:ext cx="11457432" cy="1270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53381" y="3059668"/>
            <a:ext cx="4114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000000"/>
                </a:solidFill>
                <a:latin typeface="Calibri"/>
              </a:rPr>
              <a:t>Problem Statement Title: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51061" y="3059668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000000"/>
                </a:solidFill>
                <a:latin typeface="Calibri"/>
              </a:rPr>
              <a:t>Eco</a:t>
            </a:r>
            <a:r>
              <a:rPr lang="en-IN" sz="2000" b="0" dirty="0">
                <a:solidFill>
                  <a:srgbClr val="000000"/>
                </a:solidFill>
                <a:latin typeface="Calibri"/>
              </a:rPr>
              <a:t> </a:t>
            </a:r>
            <a:r>
              <a:rPr sz="2000" b="0" dirty="0">
                <a:solidFill>
                  <a:srgbClr val="000000"/>
                </a:solidFill>
                <a:latin typeface="Calibri"/>
              </a:rPr>
              <a:t>-</a:t>
            </a:r>
            <a:r>
              <a:rPr lang="en-IN" sz="2000" b="0" dirty="0">
                <a:solidFill>
                  <a:srgbClr val="000000"/>
                </a:solidFill>
                <a:latin typeface="Calibri"/>
              </a:rPr>
              <a:t> </a:t>
            </a:r>
            <a:r>
              <a:rPr sz="2000" b="0" dirty="0">
                <a:solidFill>
                  <a:srgbClr val="000000"/>
                </a:solidFill>
                <a:latin typeface="Calibri"/>
              </a:rPr>
              <a:t>Loop Building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53381" y="3462004"/>
            <a:ext cx="4114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Calibri"/>
              </a:rPr>
              <a:t>Theme: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51061" y="3462004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000000"/>
                </a:solidFill>
                <a:latin typeface="Calibri"/>
              </a:rPr>
              <a:t>Smart Automation / Sustainable Energy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53381" y="3864340"/>
            <a:ext cx="4114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Calibri"/>
              </a:rPr>
              <a:t>PS Category: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51061" y="3864340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000000"/>
                </a:solidFill>
                <a:latin typeface="Calibri"/>
              </a:rPr>
              <a:t>Software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53381" y="4266676"/>
            <a:ext cx="4114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Candidate</a:t>
            </a:r>
            <a:r>
              <a:rPr lang="en-IN" sz="2000" dirty="0"/>
              <a:t> </a:t>
            </a:r>
            <a:r>
              <a:rPr sz="2000" b="1" dirty="0">
                <a:solidFill>
                  <a:srgbClr val="000000"/>
                </a:solidFill>
                <a:latin typeface="Calibri"/>
              </a:rPr>
              <a:t> Name: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51061" y="4266676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000" b="0" dirty="0">
                <a:solidFill>
                  <a:srgbClr val="000000"/>
                </a:solidFill>
                <a:latin typeface="Calibri"/>
              </a:rPr>
              <a:t>Prakhar Mishra</a:t>
            </a:r>
            <a:endParaRPr sz="2000" b="0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53381" y="4669012"/>
            <a:ext cx="4114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Candidate</a:t>
            </a:r>
            <a:r>
              <a:rPr lang="en-IN" sz="2000" dirty="0"/>
              <a:t> </a:t>
            </a:r>
            <a:r>
              <a:rPr sz="2000" b="1" dirty="0">
                <a:solidFill>
                  <a:srgbClr val="000000"/>
                </a:solidFill>
                <a:latin typeface="Calibri"/>
              </a:rPr>
              <a:t> ID: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51061" y="4669012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20518043</a:t>
            </a:r>
            <a:endParaRPr sz="2000" b="0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0" name="object 6">
            <a:extLst>
              <a:ext uri="{FF2B5EF4-FFF2-40B4-BE49-F238E27FC236}">
                <a16:creationId xmlns:a16="http://schemas.microsoft.com/office/drawing/2014/main" id="{9A5B2321-0F32-6098-4795-01E040CBC0A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49569" y="122649"/>
            <a:ext cx="3014036" cy="57839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Calibri"/>
              </a:rPr>
              <a:t>Proposed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57432" cy="1270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20472"/>
            <a:ext cx="54864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000000"/>
                </a:solidFill>
                <a:latin typeface="Calibri"/>
              </a:rPr>
              <a:t>What Eco</a:t>
            </a:r>
            <a:r>
              <a:rPr lang="en-IN" b="1" dirty="0">
                <a:solidFill>
                  <a:srgbClr val="000000"/>
                </a:solidFill>
                <a:latin typeface="Calibri"/>
              </a:rPr>
              <a:t> - </a:t>
            </a:r>
            <a:r>
              <a:rPr b="1" dirty="0">
                <a:solidFill>
                  <a:srgbClr val="000000"/>
                </a:solidFill>
                <a:latin typeface="Calibri"/>
              </a:rPr>
              <a:t>Loop Does: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b="0" dirty="0">
                <a:solidFill>
                  <a:srgbClr val="000000"/>
                </a:solidFill>
                <a:latin typeface="Calibri"/>
              </a:rPr>
              <a:t>Links </a:t>
            </a:r>
            <a:r>
              <a:rPr b="0" dirty="0" err="1">
                <a:solidFill>
                  <a:srgbClr val="000000"/>
                </a:solidFill>
                <a:latin typeface="Calibri"/>
              </a:rPr>
              <a:t>EnergyPlus</a:t>
            </a:r>
            <a:r>
              <a:rPr b="0" dirty="0">
                <a:solidFill>
                  <a:srgbClr val="000000"/>
                </a:solidFill>
                <a:latin typeface="Calibri"/>
              </a:rPr>
              <a:t> (physics sim) with a local LLM (Gemma-4-E2B)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b="0" dirty="0">
                <a:solidFill>
                  <a:srgbClr val="000000"/>
                </a:solidFill>
                <a:latin typeface="Calibri"/>
              </a:rPr>
              <a:t>Continuous loop: Sense → Reason → Act → Repeat, every hour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b="0" dirty="0">
                <a:solidFill>
                  <a:srgbClr val="000000"/>
                </a:solidFill>
                <a:latin typeface="Calibri"/>
              </a:rPr>
              <a:t>Autonomously adjusts HVAC setpoints — zero human intervention</a:t>
            </a:r>
          </a:p>
          <a:p>
            <a:pPr algn="l"/>
            <a:endParaRPr b="0" dirty="0">
              <a:solidFill>
                <a:srgbClr val="000000"/>
              </a:solidFill>
              <a:latin typeface="Calibri"/>
            </a:endParaRPr>
          </a:p>
          <a:p>
            <a:pPr algn="l"/>
            <a:r>
              <a:rPr b="1" dirty="0">
                <a:solidFill>
                  <a:srgbClr val="000000"/>
                </a:solidFill>
                <a:latin typeface="Calibri"/>
              </a:rPr>
              <a:t>Innovation &amp; Uniqueness: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b="0" dirty="0">
                <a:solidFill>
                  <a:srgbClr val="000000"/>
                </a:solidFill>
                <a:latin typeface="Calibri"/>
              </a:rPr>
              <a:t>Fully local </a:t>
            </a:r>
            <a:r>
              <a:rPr lang="en-IN" b="0" dirty="0">
                <a:solidFill>
                  <a:srgbClr val="000000"/>
                </a:solidFill>
                <a:latin typeface="Calibri"/>
              </a:rPr>
              <a:t>System – local LLM </a:t>
            </a:r>
            <a:r>
              <a:rPr lang="en-IN" dirty="0">
                <a:solidFill>
                  <a:srgbClr val="000000"/>
                </a:solidFill>
              </a:rPr>
              <a:t>running on Nvidia </a:t>
            </a:r>
            <a:r>
              <a:rPr lang="en-IN" dirty="0" err="1">
                <a:solidFill>
                  <a:srgbClr val="000000"/>
                </a:solidFill>
              </a:rPr>
              <a:t>rtx</a:t>
            </a:r>
            <a:r>
              <a:rPr lang="en-IN" dirty="0">
                <a:solidFill>
                  <a:srgbClr val="000000"/>
                </a:solidFill>
              </a:rPr>
              <a:t> 2050 4gb </a:t>
            </a:r>
            <a:r>
              <a:rPr lang="en-IN" dirty="0" err="1">
                <a:solidFill>
                  <a:srgbClr val="000000"/>
                </a:solidFill>
              </a:rPr>
              <a:t>vram</a:t>
            </a:r>
            <a:endParaRPr b="0" dirty="0">
              <a:solidFill>
                <a:srgbClr val="000000"/>
              </a:solidFill>
              <a:latin typeface="Calibri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b="0" dirty="0">
                <a:solidFill>
                  <a:srgbClr val="000000"/>
                </a:solidFill>
                <a:latin typeface="Calibri"/>
              </a:rPr>
              <a:t>Real physics co-simulation (not a rule engine)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b="0" dirty="0">
                <a:solidFill>
                  <a:srgbClr val="000000"/>
                </a:solidFill>
                <a:latin typeface="Calibri"/>
              </a:rPr>
              <a:t>LLM output safety-wrapped by deterministic ASHRAE 55 guardrails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b="0" dirty="0">
                <a:solidFill>
                  <a:srgbClr val="000000"/>
                </a:solidFill>
                <a:latin typeface="Calibri"/>
              </a:rPr>
              <a:t>4× efficiency: 168 hourly decisions over 7 days in &lt; 4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664208"/>
            <a:ext cx="55778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Calibri"/>
              </a:rPr>
              <a:t>Traditional BMS  vs  EcoLoop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2121408"/>
            <a:ext cx="557784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" name="TextBox 6"/>
          <p:cNvSpPr txBox="1"/>
          <p:nvPr/>
        </p:nvSpPr>
        <p:spPr>
          <a:xfrm>
            <a:off x="6355080" y="2167128"/>
            <a:ext cx="26517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60000"/>
                </a:solidFill>
                <a:latin typeface="Calibri"/>
              </a:rPr>
              <a:t>✗  Static schedules, no adaptation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0" y="2167128"/>
            <a:ext cx="2743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783C"/>
                </a:solidFill>
                <a:latin typeface="Calibri"/>
              </a:rPr>
              <a:t>✓  Dynamic setpoints, hourly AI decisions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2779776"/>
            <a:ext cx="557784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TextBox 9"/>
          <p:cNvSpPr txBox="1"/>
          <p:nvPr/>
        </p:nvSpPr>
        <p:spPr>
          <a:xfrm>
            <a:off x="6355080" y="2825496"/>
            <a:ext cx="26517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60000"/>
                </a:solidFill>
                <a:latin typeface="Calibri"/>
              </a:rPr>
              <a:t>✗  Ignores weather / occupancy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2825496"/>
            <a:ext cx="2743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783C"/>
                </a:solidFill>
                <a:latin typeface="Calibri"/>
              </a:rPr>
              <a:t>✓  Reads 6-hr weather forecast + live PMV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3438144"/>
            <a:ext cx="557784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3" name="TextBox 12"/>
          <p:cNvSpPr txBox="1"/>
          <p:nvPr/>
        </p:nvSpPr>
        <p:spPr>
          <a:xfrm>
            <a:off x="6355080" y="3483864"/>
            <a:ext cx="26517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60000"/>
                </a:solidFill>
                <a:latin typeface="Calibri"/>
              </a:rPr>
              <a:t>✗  Wastes energy on overcooling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3483864"/>
            <a:ext cx="2743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783C"/>
                </a:solidFill>
                <a:latin typeface="Calibri"/>
              </a:rPr>
              <a:t>✓  23.34% cooling energy reduction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4096512"/>
            <a:ext cx="557784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TextBox 15"/>
          <p:cNvSpPr txBox="1"/>
          <p:nvPr/>
        </p:nvSpPr>
        <p:spPr>
          <a:xfrm>
            <a:off x="6355080" y="4142232"/>
            <a:ext cx="26517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60000"/>
                </a:solidFill>
                <a:latin typeface="Calibri"/>
              </a:rPr>
              <a:t>✗  No comfort feedback loop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4142232"/>
            <a:ext cx="2743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783C"/>
                </a:solidFill>
                <a:latin typeface="Calibri"/>
              </a:rPr>
              <a:t>✓  ASHRAE 55 PMV compliance: 98.2%</a:t>
            </a:r>
          </a:p>
        </p:txBody>
      </p:sp>
      <p:pic>
        <p:nvPicPr>
          <p:cNvPr id="21" name="object 6">
            <a:extLst>
              <a:ext uri="{FF2B5EF4-FFF2-40B4-BE49-F238E27FC236}">
                <a16:creationId xmlns:a16="http://schemas.microsoft.com/office/drawing/2014/main" id="{87942278-E2D3-51FA-4BA1-3C38EDF6078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49569" y="122649"/>
            <a:ext cx="3014036" cy="578398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0DA7E4D1-21E7-1E4A-0480-12DD9B353CF3}"/>
              </a:ext>
            </a:extLst>
          </p:cNvPr>
          <p:cNvSpPr/>
          <p:nvPr/>
        </p:nvSpPr>
        <p:spPr>
          <a:xfrm>
            <a:off x="206477" y="1071716"/>
            <a:ext cx="5887935" cy="4960784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CB1E940-8B16-40E4-20D2-887AF428B48D}"/>
              </a:ext>
            </a:extLst>
          </p:cNvPr>
          <p:cNvSpPr/>
          <p:nvPr/>
        </p:nvSpPr>
        <p:spPr>
          <a:xfrm>
            <a:off x="6253695" y="1265772"/>
            <a:ext cx="5672988" cy="3882103"/>
          </a:xfrm>
          <a:prstGeom prst="rect">
            <a:avLst/>
          </a:prstGeom>
          <a:noFill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Calibri"/>
              </a:rPr>
              <a:t>Technical Approach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57432" cy="1270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512064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000000"/>
                </a:solidFill>
                <a:latin typeface="Calibri"/>
              </a:rPr>
              <a:t>Technologies Used: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b="0" dirty="0">
                <a:solidFill>
                  <a:srgbClr val="000000"/>
                </a:solidFill>
                <a:latin typeface="Calibri"/>
              </a:rPr>
              <a:t>Simulation:   </a:t>
            </a:r>
            <a:r>
              <a:rPr b="0" dirty="0" err="1">
                <a:solidFill>
                  <a:srgbClr val="000000"/>
                </a:solidFill>
                <a:latin typeface="Calibri"/>
              </a:rPr>
              <a:t>EnergyPlus</a:t>
            </a:r>
            <a:r>
              <a:rPr b="0" dirty="0">
                <a:solidFill>
                  <a:srgbClr val="000000"/>
                </a:solidFill>
                <a:latin typeface="Calibri"/>
              </a:rPr>
              <a:t> 26.1.0 + </a:t>
            </a:r>
            <a:r>
              <a:rPr b="0" dirty="0" err="1">
                <a:solidFill>
                  <a:srgbClr val="000000"/>
                </a:solidFill>
                <a:latin typeface="Calibri"/>
              </a:rPr>
              <a:t>pyenergyplus</a:t>
            </a:r>
            <a:r>
              <a:rPr b="0" dirty="0">
                <a:solidFill>
                  <a:srgbClr val="000000"/>
                </a:solidFill>
                <a:latin typeface="Calibri"/>
              </a:rPr>
              <a:t> </a:t>
            </a:r>
            <a:r>
              <a:rPr b="0" dirty="0" err="1">
                <a:solidFill>
                  <a:srgbClr val="000000"/>
                </a:solidFill>
                <a:latin typeface="Calibri"/>
              </a:rPr>
              <a:t>PythonPlugin</a:t>
            </a:r>
            <a:r>
              <a:rPr b="0" dirty="0">
                <a:solidFill>
                  <a:srgbClr val="000000"/>
                </a:solidFill>
                <a:latin typeface="Calibri"/>
              </a:rPr>
              <a:t> API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b="0" dirty="0">
                <a:solidFill>
                  <a:srgbClr val="000000"/>
                </a:solidFill>
                <a:latin typeface="Calibri"/>
              </a:rPr>
              <a:t>Cognitive:    Gemma-4-E2B — local LLM via llama.cpp (OpenAI REST)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b="0" dirty="0">
                <a:solidFill>
                  <a:srgbClr val="000000"/>
                </a:solidFill>
                <a:latin typeface="Calibri"/>
              </a:rPr>
              <a:t>Language:     Python 3.11  (</a:t>
            </a:r>
            <a:r>
              <a:rPr b="0" dirty="0" err="1">
                <a:solidFill>
                  <a:srgbClr val="000000"/>
                </a:solidFill>
                <a:latin typeface="Calibri"/>
              </a:rPr>
              <a:t>src</a:t>
            </a:r>
            <a:r>
              <a:rPr b="0" dirty="0">
                <a:solidFill>
                  <a:srgbClr val="000000"/>
                </a:solidFill>
                <a:latin typeface="Calibri"/>
              </a:rPr>
              <a:t>/</a:t>
            </a:r>
            <a:r>
              <a:rPr b="0" dirty="0" err="1">
                <a:solidFill>
                  <a:srgbClr val="000000"/>
                </a:solidFill>
                <a:latin typeface="Calibri"/>
              </a:rPr>
              <a:t>ecoloop</a:t>
            </a:r>
            <a:r>
              <a:rPr b="0" dirty="0">
                <a:solidFill>
                  <a:srgbClr val="000000"/>
                </a:solidFill>
                <a:latin typeface="Calibri"/>
              </a:rPr>
              <a:t> package)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b="0" dirty="0">
                <a:solidFill>
                  <a:srgbClr val="000000"/>
                </a:solidFill>
                <a:latin typeface="Calibri"/>
              </a:rPr>
              <a:t>Data:         EPW weather files, SQLite (</a:t>
            </a:r>
            <a:r>
              <a:rPr b="0" dirty="0" err="1">
                <a:solidFill>
                  <a:srgbClr val="000000"/>
                </a:solidFill>
                <a:latin typeface="Calibri"/>
              </a:rPr>
              <a:t>eplusout.sql</a:t>
            </a:r>
            <a:r>
              <a:rPr b="0" dirty="0">
                <a:solidFill>
                  <a:srgbClr val="000000"/>
                </a:solidFill>
                <a:latin typeface="Calibri"/>
              </a:rPr>
              <a:t>), JSONL log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b="0" dirty="0">
                <a:solidFill>
                  <a:srgbClr val="000000"/>
                </a:solidFill>
                <a:latin typeface="Calibri"/>
              </a:rPr>
              <a:t>Dashboard:    HTML + Chart.js (BMS Control Console)</a:t>
            </a:r>
          </a:p>
          <a:p>
            <a:pPr algn="l"/>
            <a:endParaRPr b="0" dirty="0">
              <a:solidFill>
                <a:srgbClr val="000000"/>
              </a:solidFill>
              <a:latin typeface="Calibri"/>
            </a:endParaRPr>
          </a:p>
          <a:p>
            <a:pPr algn="l"/>
            <a:r>
              <a:rPr b="1" dirty="0">
                <a:solidFill>
                  <a:srgbClr val="000000"/>
                </a:solidFill>
                <a:latin typeface="Calibri"/>
              </a:rPr>
              <a:t>Key Design Decisions: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b="0" dirty="0">
                <a:solidFill>
                  <a:srgbClr val="000000"/>
                </a:solidFill>
                <a:latin typeface="Calibri"/>
              </a:rPr>
              <a:t>Hourly gating → 4× fewer LLM calls (672 → 168 over 7 days)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b="0" dirty="0" err="1">
                <a:solidFill>
                  <a:srgbClr val="000000"/>
                </a:solidFill>
                <a:latin typeface="Calibri"/>
              </a:rPr>
              <a:t>max_tokens</a:t>
            </a:r>
            <a:r>
              <a:rPr b="0" dirty="0">
                <a:solidFill>
                  <a:srgbClr val="000000"/>
                </a:solidFill>
                <a:latin typeface="Calibri"/>
              </a:rPr>
              <a:t>=128 → ~1.5s inference per call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b="0" dirty="0">
                <a:solidFill>
                  <a:srgbClr val="000000"/>
                </a:solidFill>
                <a:latin typeface="Calibri"/>
              </a:rPr>
              <a:t>Fallback to </a:t>
            </a:r>
            <a:r>
              <a:rPr b="0" dirty="0" err="1">
                <a:solidFill>
                  <a:srgbClr val="000000"/>
                </a:solidFill>
                <a:latin typeface="Calibri"/>
              </a:rPr>
              <a:t>last_good</a:t>
            </a:r>
            <a:r>
              <a:rPr b="0" dirty="0">
                <a:solidFill>
                  <a:srgbClr val="000000"/>
                </a:solidFill>
                <a:latin typeface="Calibri"/>
              </a:rPr>
              <a:t> setpoints on timeout — never crashes </a:t>
            </a:r>
            <a:r>
              <a:rPr b="0" dirty="0" err="1">
                <a:solidFill>
                  <a:srgbClr val="000000"/>
                </a:solidFill>
                <a:latin typeface="Calibri"/>
              </a:rPr>
              <a:t>EnergyPlus</a:t>
            </a:r>
            <a:endParaRPr b="0" dirty="0">
              <a:solidFill>
                <a:srgbClr val="000000"/>
              </a:solidFill>
              <a:latin typeface="Calibri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b="0" dirty="0">
                <a:solidFill>
                  <a:srgbClr val="000000"/>
                </a:solidFill>
                <a:latin typeface="Calibri"/>
              </a:rPr>
              <a:t>Skip actuation during design-day sizing (</a:t>
            </a:r>
            <a:r>
              <a:rPr b="0" dirty="0" err="1">
                <a:solidFill>
                  <a:srgbClr val="000000"/>
                </a:solidFill>
                <a:latin typeface="Calibri"/>
              </a:rPr>
              <a:t>env_num</a:t>
            </a:r>
            <a:r>
              <a:rPr b="0" dirty="0">
                <a:solidFill>
                  <a:srgbClr val="000000"/>
                </a:solidFill>
                <a:latin typeface="Calibri"/>
              </a:rPr>
              <a:t> &lt; 3 guard)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4889" y="1049013"/>
            <a:ext cx="6613935" cy="5035430"/>
          </a:xfrm>
          <a:prstGeom prst="rect">
            <a:avLst/>
          </a:prstGeom>
          <a:solidFill>
            <a:srgbClr val="F0F0F0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object 6">
            <a:extLst>
              <a:ext uri="{FF2B5EF4-FFF2-40B4-BE49-F238E27FC236}">
                <a16:creationId xmlns:a16="http://schemas.microsoft.com/office/drawing/2014/main" id="{A45C3FCA-C42D-5091-2113-772B78FFC44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49569" y="122649"/>
            <a:ext cx="3014036" cy="57839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D830D55-7C63-E098-A5DB-FD2AD63D7B21}"/>
              </a:ext>
            </a:extLst>
          </p:cNvPr>
          <p:cNvSpPr/>
          <p:nvPr/>
        </p:nvSpPr>
        <p:spPr>
          <a:xfrm>
            <a:off x="206477" y="948607"/>
            <a:ext cx="5279923" cy="5689543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3A7BDD9-6247-BD68-BA56-C909863174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6085" y="1307690"/>
            <a:ext cx="6511542" cy="4341028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F52D12EA-8F05-F36A-9BB8-49701520E61B}"/>
              </a:ext>
            </a:extLst>
          </p:cNvPr>
          <p:cNvSpPr/>
          <p:nvPr/>
        </p:nvSpPr>
        <p:spPr>
          <a:xfrm>
            <a:off x="5560141" y="1103040"/>
            <a:ext cx="6511542" cy="4968703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Calibri"/>
              </a:rPr>
              <a:t>Feasibility, Challenges &amp; Mitigations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57432" cy="1270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11430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000000"/>
                </a:solidFill>
                <a:latin typeface="Calibri"/>
              </a:rPr>
              <a:t>Feasibility: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b="0" dirty="0">
                <a:solidFill>
                  <a:srgbClr val="000000"/>
                </a:solidFill>
                <a:latin typeface="Calibri"/>
              </a:rPr>
              <a:t>Fully implemented &amp; tested — 7-day Chicago summer simulation (July 1–7)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b="0" dirty="0">
                <a:solidFill>
                  <a:srgbClr val="000000"/>
                </a:solidFill>
                <a:latin typeface="Calibri"/>
              </a:rPr>
              <a:t>Runs end-to-end in &lt; 4 minutes on consumer hardware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b="0" dirty="0">
                <a:solidFill>
                  <a:srgbClr val="000000"/>
                </a:solidFill>
                <a:latin typeface="Calibri"/>
              </a:rPr>
              <a:t>No internet or cloud required — 100% local</a:t>
            </a:r>
            <a:r>
              <a:rPr lang="en-IN" b="0" dirty="0" err="1">
                <a:solidFill>
                  <a:srgbClr val="000000"/>
                </a:solidFill>
                <a:latin typeface="Calibri"/>
              </a:rPr>
              <a:t>ly</a:t>
            </a:r>
            <a:r>
              <a:rPr lang="en-IN" b="0" dirty="0">
                <a:solidFill>
                  <a:srgbClr val="000000"/>
                </a:solidFill>
                <a:latin typeface="Calibri"/>
              </a:rPr>
              <a:t> deployable without external </a:t>
            </a:r>
            <a:r>
              <a:rPr lang="en-IN" b="0" dirty="0" err="1">
                <a:solidFill>
                  <a:srgbClr val="000000"/>
                </a:solidFill>
                <a:latin typeface="Calibri"/>
              </a:rPr>
              <a:t>api</a:t>
            </a:r>
            <a:r>
              <a:rPr lang="en-IN" b="0" dirty="0">
                <a:solidFill>
                  <a:srgbClr val="000000"/>
                </a:solidFill>
                <a:latin typeface="Calibri"/>
              </a:rPr>
              <a:t> support</a:t>
            </a:r>
            <a:endParaRPr b="0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06173" y="2239189"/>
            <a:ext cx="11457432" cy="1270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2606040"/>
            <a:ext cx="34747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Calibri"/>
              </a:rPr>
              <a:t>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2606040"/>
            <a:ext cx="34747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Calibri"/>
              </a:rPr>
              <a:t>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2606040"/>
            <a:ext cx="34747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Calibri"/>
              </a:rPr>
              <a:t>Mitigation Strategy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3017520"/>
            <a:ext cx="11521440" cy="5943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/>
          <p:cNvSpPr txBox="1"/>
          <p:nvPr/>
        </p:nvSpPr>
        <p:spPr>
          <a:xfrm>
            <a:off x="365760" y="3063240"/>
            <a:ext cx="3474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alibri"/>
              </a:rPr>
              <a:t>LLM outputs malformed JSON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3063240"/>
            <a:ext cx="3474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alibri"/>
              </a:rPr>
              <a:t>Simulation crash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3063240"/>
            <a:ext cx="4114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alibri"/>
              </a:rPr>
              <a:t>Regex fallback + last_good setpoint reuse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675888"/>
            <a:ext cx="115214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" name="TextBox 13"/>
          <p:cNvSpPr txBox="1"/>
          <p:nvPr/>
        </p:nvSpPr>
        <p:spPr>
          <a:xfrm>
            <a:off x="365760" y="3721608"/>
            <a:ext cx="3474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alibri"/>
              </a:rPr>
              <a:t>LLM too slow for 672 timesteps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3721608"/>
            <a:ext cx="3474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alibri"/>
              </a:rPr>
              <a:t>Unusable runtime (&gt;50 min)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3721608"/>
            <a:ext cx="4114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alibri"/>
              </a:rPr>
              <a:t>Hourly gating — 168 calls, &lt; 4 min total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334256"/>
            <a:ext cx="11521440" cy="5943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8" name="TextBox 17"/>
          <p:cNvSpPr txBox="1"/>
          <p:nvPr/>
        </p:nvSpPr>
        <p:spPr>
          <a:xfrm>
            <a:off x="365760" y="4379976"/>
            <a:ext cx="3474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alibri"/>
              </a:rPr>
              <a:t>Setpoints outside safe HVAC range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4379976"/>
            <a:ext cx="3474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alibri"/>
              </a:rPr>
              <a:t>Equipment damage / instability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4379976"/>
            <a:ext cx="4114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alibri"/>
              </a:rPr>
              <a:t>Deterministic ASHRAE 55 clamp layer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4992624"/>
            <a:ext cx="115214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2" name="TextBox 21"/>
          <p:cNvSpPr txBox="1"/>
          <p:nvPr/>
        </p:nvSpPr>
        <p:spPr>
          <a:xfrm>
            <a:off x="365760" y="5038344"/>
            <a:ext cx="3474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alibri"/>
              </a:rPr>
              <a:t>LLM over-corrects (hunting)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5038344"/>
            <a:ext cx="3474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alibri"/>
              </a:rPr>
              <a:t>Oscillating setpoints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5038344"/>
            <a:ext cx="4114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alibri"/>
              </a:rPr>
              <a:t>3-step rolling decision memory in prompt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5650992"/>
            <a:ext cx="11521440" cy="5943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6" name="TextBox 25"/>
          <p:cNvSpPr txBox="1"/>
          <p:nvPr/>
        </p:nvSpPr>
        <p:spPr>
          <a:xfrm>
            <a:off x="365760" y="5696712"/>
            <a:ext cx="3474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alibri"/>
              </a:rPr>
              <a:t>Design-day sizing interference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0" y="5696712"/>
            <a:ext cx="3474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alibri"/>
              </a:rPr>
              <a:t>Corrupted HVAC sizing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5696712"/>
            <a:ext cx="4114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alibri"/>
              </a:rPr>
              <a:t>env_num &lt; 3 guard skips actuation</a:t>
            </a:r>
          </a:p>
        </p:txBody>
      </p:sp>
      <p:pic>
        <p:nvPicPr>
          <p:cNvPr id="30" name="object 6">
            <a:extLst>
              <a:ext uri="{FF2B5EF4-FFF2-40B4-BE49-F238E27FC236}">
                <a16:creationId xmlns:a16="http://schemas.microsoft.com/office/drawing/2014/main" id="{5D449B2F-CC27-3337-D1E0-81C562E2F6C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49569" y="122649"/>
            <a:ext cx="3014036" cy="578398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DE20F2D6-CA04-E3B6-FF6D-D99327E65289}"/>
              </a:ext>
            </a:extLst>
          </p:cNvPr>
          <p:cNvSpPr/>
          <p:nvPr/>
        </p:nvSpPr>
        <p:spPr>
          <a:xfrm>
            <a:off x="365631" y="948608"/>
            <a:ext cx="11457433" cy="1303282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769EFB9-84CA-D48B-5672-9FF1ED895A29}"/>
              </a:ext>
            </a:extLst>
          </p:cNvPr>
          <p:cNvSpPr/>
          <p:nvPr/>
        </p:nvSpPr>
        <p:spPr>
          <a:xfrm>
            <a:off x="206477" y="2561844"/>
            <a:ext cx="11662308" cy="3855753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Calibri"/>
              </a:rPr>
              <a:t>Artifacts — Results, Code &amp;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57432" cy="1270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231549" y="868680"/>
            <a:ext cx="3941419" cy="4506351"/>
          </a:xfrm>
          <a:prstGeom prst="rect">
            <a:avLst/>
          </a:prstGeom>
          <a:solidFill>
            <a:srgbClr val="F0F0F0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object 6">
            <a:extLst>
              <a:ext uri="{FF2B5EF4-FFF2-40B4-BE49-F238E27FC236}">
                <a16:creationId xmlns:a16="http://schemas.microsoft.com/office/drawing/2014/main" id="{0957846C-CFE2-9F49-68AC-58A3C3AA90A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49569" y="122649"/>
            <a:ext cx="3014036" cy="578398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0314B09B-34B8-96E0-6596-3E7F4562D1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2135" y="1068654"/>
            <a:ext cx="7786881" cy="4519049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10A5FCC4-9C99-341F-A30E-492E0C4AD146}"/>
              </a:ext>
            </a:extLst>
          </p:cNvPr>
          <p:cNvSpPr txBox="1"/>
          <p:nvPr/>
        </p:nvSpPr>
        <p:spPr>
          <a:xfrm>
            <a:off x="231550" y="1046430"/>
            <a:ext cx="39414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000000"/>
                </a:solidFill>
                <a:latin typeface="Calibri"/>
              </a:rPr>
              <a:t>Quantitative Results (July 1–7, Chicago Summer)</a:t>
            </a:r>
          </a:p>
        </p:txBody>
      </p:sp>
      <p:graphicFrame>
        <p:nvGraphicFramePr>
          <p:cNvPr id="106" name="Table 105">
            <a:extLst>
              <a:ext uri="{FF2B5EF4-FFF2-40B4-BE49-F238E27FC236}">
                <a16:creationId xmlns:a16="http://schemas.microsoft.com/office/drawing/2014/main" id="{9CBDC552-ACFB-2075-549F-06EBA0B20C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0226668"/>
              </p:ext>
            </p:extLst>
          </p:nvPr>
        </p:nvGraphicFramePr>
        <p:xfrm>
          <a:off x="365760" y="1440712"/>
          <a:ext cx="3696440" cy="3749040"/>
        </p:xfrm>
        <a:graphic>
          <a:graphicData uri="http://schemas.openxmlformats.org/drawingml/2006/table">
            <a:tbl>
              <a:tblPr/>
              <a:tblGrid>
                <a:gridCol w="924110">
                  <a:extLst>
                    <a:ext uri="{9D8B030D-6E8A-4147-A177-3AD203B41FA5}">
                      <a16:colId xmlns:a16="http://schemas.microsoft.com/office/drawing/2014/main" val="3563841142"/>
                    </a:ext>
                  </a:extLst>
                </a:gridCol>
                <a:gridCol w="924110">
                  <a:extLst>
                    <a:ext uri="{9D8B030D-6E8A-4147-A177-3AD203B41FA5}">
                      <a16:colId xmlns:a16="http://schemas.microsoft.com/office/drawing/2014/main" val="2986503403"/>
                    </a:ext>
                  </a:extLst>
                </a:gridCol>
                <a:gridCol w="924110">
                  <a:extLst>
                    <a:ext uri="{9D8B030D-6E8A-4147-A177-3AD203B41FA5}">
                      <a16:colId xmlns:a16="http://schemas.microsoft.com/office/drawing/2014/main" val="3579711177"/>
                    </a:ext>
                  </a:extLst>
                </a:gridCol>
                <a:gridCol w="924110">
                  <a:extLst>
                    <a:ext uri="{9D8B030D-6E8A-4147-A177-3AD203B41FA5}">
                      <a16:colId xmlns:a16="http://schemas.microsoft.com/office/drawing/2014/main" val="3662805924"/>
                    </a:ext>
                  </a:extLst>
                </a:gridCol>
              </a:tblGrid>
              <a:tr h="3026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Metric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Baseline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 err="1"/>
                        <a:t>EcoLoop</a:t>
                      </a:r>
                      <a:r>
                        <a:rPr lang="en-IN" sz="1400" dirty="0"/>
                        <a:t> </a:t>
                      </a:r>
                      <a:r>
                        <a:rPr lang="en-IN" sz="1400" b="1" dirty="0"/>
                        <a:t>AI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Change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2405182"/>
                  </a:ext>
                </a:extLst>
              </a:tr>
              <a:tr h="5145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Cooling Energy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173.70 kWh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133.16 kWh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-23.34%</a:t>
                      </a:r>
                      <a:endParaRPr lang="en-IN" sz="14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5227420"/>
                  </a:ext>
                </a:extLst>
              </a:tr>
              <a:tr h="7264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Avg PMV Index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-0.66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-0.55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+16% toward comfort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9173784"/>
                  </a:ext>
                </a:extLst>
              </a:tr>
              <a:tr h="5145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Avg Zone Temp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22.96 °C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23.35 °C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Less overcooling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9187761"/>
                  </a:ext>
                </a:extLst>
              </a:tr>
              <a:tr h="5145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AI Decisions Made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168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Hourly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9265065"/>
                  </a:ext>
                </a:extLst>
              </a:tr>
              <a:tr h="5145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Total Runtime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–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&lt; 4 min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7 days simulated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4339899"/>
                  </a:ext>
                </a:extLst>
              </a:tr>
            </a:tbl>
          </a:graphicData>
        </a:graphic>
      </p:graphicFrame>
      <p:sp>
        <p:nvSpPr>
          <p:cNvPr id="108" name="Rectangle 107">
            <a:extLst>
              <a:ext uri="{FF2B5EF4-FFF2-40B4-BE49-F238E27FC236}">
                <a16:creationId xmlns:a16="http://schemas.microsoft.com/office/drawing/2014/main" id="{6F49FEB5-9584-BAEA-DF94-A2FD42DE5ED1}"/>
              </a:ext>
            </a:extLst>
          </p:cNvPr>
          <p:cNvSpPr/>
          <p:nvPr/>
        </p:nvSpPr>
        <p:spPr>
          <a:xfrm>
            <a:off x="206477" y="881381"/>
            <a:ext cx="3941419" cy="4535908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Calibri"/>
              </a:rP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57432" cy="1270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3840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Calibri"/>
              </a:rPr>
              <a:t>1.  EnergyPlus Documentation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1005840"/>
            <a:ext cx="7406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505050"/>
                </a:solidFill>
                <a:latin typeface="Calibri"/>
              </a:rPr>
              <a:t>U.S. Department of Energy — energyplus.net/documentation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64208"/>
            <a:ext cx="3840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Calibri"/>
              </a:rPr>
              <a:t>2.  ASHRAE Standard 55-2020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664208"/>
            <a:ext cx="7406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505050"/>
                </a:solidFill>
                <a:latin typeface="Calibri"/>
              </a:rPr>
              <a:t>Thermal Environmental Conditions for Human Occupancy — ashrae.org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22576"/>
            <a:ext cx="3840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Calibri"/>
              </a:rPr>
              <a:t>3.  Fanger, P.O. (1970)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322576"/>
            <a:ext cx="7406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505050"/>
                </a:solidFill>
                <a:latin typeface="Calibri"/>
              </a:rPr>
              <a:t>Thermal Comfort: Analysis and Applications in Environmental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80944"/>
            <a:ext cx="3840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Calibri"/>
              </a:rPr>
              <a:t>4.  Gemma (Google DeepMind, 2024)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980944"/>
            <a:ext cx="7406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505050"/>
                </a:solidFill>
                <a:latin typeface="Calibri"/>
              </a:rPr>
              <a:t>Open-weight LLM — </a:t>
            </a:r>
            <a:r>
              <a:rPr sz="1400" b="0" dirty="0" err="1">
                <a:solidFill>
                  <a:srgbClr val="505050"/>
                </a:solidFill>
                <a:latin typeface="Calibri"/>
              </a:rPr>
              <a:t>ai.google.dev</a:t>
            </a:r>
            <a:r>
              <a:rPr sz="1400" b="0" dirty="0">
                <a:solidFill>
                  <a:srgbClr val="505050"/>
                </a:solidFill>
                <a:latin typeface="Calibri"/>
              </a:rPr>
              <a:t>/gemma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39312"/>
            <a:ext cx="3840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Calibri"/>
              </a:rPr>
              <a:t>5.  llama.cpp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639312"/>
            <a:ext cx="7406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505050"/>
                </a:solidFill>
                <a:latin typeface="Calibri"/>
              </a:rPr>
              <a:t>Local LLM inference, OpenAI-compatible API — github.com/</a:t>
            </a:r>
            <a:r>
              <a:rPr sz="1400" b="0" dirty="0" err="1">
                <a:solidFill>
                  <a:srgbClr val="505050"/>
                </a:solidFill>
                <a:latin typeface="Calibri"/>
              </a:rPr>
              <a:t>ggerganov</a:t>
            </a:r>
            <a:r>
              <a:rPr sz="1400" b="0" dirty="0">
                <a:solidFill>
                  <a:srgbClr val="505050"/>
                </a:solidFill>
                <a:latin typeface="Calibri"/>
              </a:rPr>
              <a:t>/llama.cpp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297679"/>
            <a:ext cx="3840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Calibri"/>
              </a:rPr>
              <a:t>6.  pyenergyplus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4297679"/>
            <a:ext cx="7406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 err="1">
                <a:solidFill>
                  <a:srgbClr val="505050"/>
                </a:solidFill>
                <a:latin typeface="Calibri"/>
              </a:rPr>
              <a:t>EnergyPlus</a:t>
            </a:r>
            <a:r>
              <a:rPr sz="1400" b="0" dirty="0">
                <a:solidFill>
                  <a:srgbClr val="505050"/>
                </a:solidFill>
                <a:latin typeface="Calibri"/>
              </a:rPr>
              <a:t> Python API — github.com/NREL/</a:t>
            </a:r>
            <a:r>
              <a:rPr sz="1400" b="0" dirty="0" err="1">
                <a:solidFill>
                  <a:srgbClr val="505050"/>
                </a:solidFill>
                <a:latin typeface="Calibri"/>
              </a:rPr>
              <a:t>EnergyPlus</a:t>
            </a:r>
            <a:endParaRPr sz="1400" b="0" dirty="0">
              <a:solidFill>
                <a:srgbClr val="505050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4956048"/>
            <a:ext cx="3840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Calibri"/>
              </a:rPr>
              <a:t>7.  Model Context Protocol (MCP)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4956048"/>
            <a:ext cx="7406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505050"/>
                </a:solidFill>
                <a:latin typeface="Calibri"/>
              </a:rPr>
              <a:t>Anthropic open standard for agentic tool calling — modelcontextprotocol.io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614416"/>
            <a:ext cx="3840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Calibri"/>
              </a:rPr>
              <a:t>8.  Project Repository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5614416"/>
            <a:ext cx="7406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solidFill>
                  <a:srgbClr val="505050"/>
                </a:solidFill>
              </a:rPr>
              <a:t>https://github.com/prakhxr0/agentic-bms</a:t>
            </a:r>
            <a:endParaRPr sz="1400" b="0" dirty="0">
              <a:solidFill>
                <a:srgbClr val="505050"/>
              </a:solidFill>
              <a:latin typeface="Calibri"/>
            </a:endParaRPr>
          </a:p>
        </p:txBody>
      </p:sp>
      <p:pic>
        <p:nvPicPr>
          <p:cNvPr id="21" name="object 6">
            <a:extLst>
              <a:ext uri="{FF2B5EF4-FFF2-40B4-BE49-F238E27FC236}">
                <a16:creationId xmlns:a16="http://schemas.microsoft.com/office/drawing/2014/main" id="{74E769B9-9895-294A-2456-FFF220A7DEB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59401" y="122649"/>
            <a:ext cx="3014036" cy="57839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639</Words>
  <Application>Microsoft Office PowerPoint</Application>
  <PresentationFormat>Custom</PresentationFormat>
  <Paragraphs>111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Prakhar Mishra</cp:lastModifiedBy>
  <cp:revision>4</cp:revision>
  <dcterms:created xsi:type="dcterms:W3CDTF">2013-01-27T09:14:16Z</dcterms:created>
  <dcterms:modified xsi:type="dcterms:W3CDTF">2026-07-26T16:50:23Z</dcterms:modified>
  <cp:category/>
</cp:coreProperties>
</file>